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TEXT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容頁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77859" y="431780"/>
            <a:ext cx="10553730" cy="42547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buNone/>
              <a:defRPr 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按一下以新增標題</a:t>
            </a:r>
            <a:endParaRPr lang="en-US" sz="2700" dirty="0"/>
          </a:p>
        </p:txBody>
      </p:sp>
      <p:sp>
        <p:nvSpPr>
          <p:cNvPr id="3" name="Shape 0"/>
          <p:cNvSpPr/>
          <p:nvPr/>
        </p:nvSpPr>
        <p:spPr>
          <a:xfrm>
            <a:off x="660380" y="1022391"/>
            <a:ext cx="10871210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60380" y="6521409"/>
            <a:ext cx="10871210" cy="0"/>
          </a:xfrm>
          <a:prstGeom prst="line">
            <a:avLst/>
          </a:prstGeom>
          <a:noFill/>
          <a:ln w="1270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容頁（含文字區）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77859" y="431780"/>
            <a:ext cx="10553730" cy="42547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buNone/>
              <a:defRPr 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按一下以新增標題</a:t>
            </a:r>
            <a:endParaRPr lang="en-US" sz="2700" dirty="0"/>
          </a:p>
        </p:txBody>
      </p:sp>
      <p:sp>
        <p:nvSpPr>
          <p:cNvPr id="3" name="Shape 0"/>
          <p:cNvSpPr/>
          <p:nvPr/>
        </p:nvSpPr>
        <p:spPr>
          <a:xfrm>
            <a:off x="660380" y="1022391"/>
            <a:ext cx="10871210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60380" y="6521409"/>
            <a:ext cx="10871210" cy="0"/>
          </a:xfrm>
          <a:prstGeom prst="line">
            <a:avLst/>
          </a:prstGeom>
          <a:noFill/>
          <a:ln w="1270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60380" y="1333470"/>
            <a:ext cx="10871210" cy="4826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marL="228600" indent="-228600">
              <a:spcBef>
                <a:spcPts val="900"/>
              </a:spcBef>
              <a:buClr>
                <a:srgbClr val="4D9DFF"/>
              </a:buClr>
              <a:buFont typeface="Arial"/>
              <a:buChar char="•"/>
              <a:defRPr lang="en-US" sz="16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  <a:lvl2pPr marL="457200" indent="-228600">
              <a:spcBef>
                <a:spcPts val="600"/>
              </a:spcBef>
              <a:buClr>
                <a:srgbClr val="5A6470"/>
              </a:buClr>
              <a:buFont typeface="Arial"/>
              <a:buChar char="–"/>
              <a:defRPr sz="1400">
                <a:solidFill>
                  <a:srgbClr val="9AA3AE"/>
                </a:solidFill>
              </a:defRPr>
            </a:lvl2pPr>
          </a:lstStyle>
          <a:p>
            <a:r>
              <a:rPr lang="en-US" sz="16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按一下以新增文字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結尾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0" y="6521409"/>
            <a:ext cx="10871210" cy="0"/>
          </a:xfrm>
          <a:prstGeom prst="line">
            <a:avLst/>
          </a:prstGeom>
          <a:noFill/>
          <a:ln w="1270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1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andace/code/slides/pptx/assets/bc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0" y="444490"/>
            <a:ext cx="1003280" cy="2540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21559" y="488930"/>
            <a:ext cx="3810030" cy="16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850" spc="15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TALENT ACQUISITION AUTOMATION</a:t>
            </a:r>
            <a:endParaRPr lang="zh-TW" sz="850" dirty="0"/>
          </a:p>
        </p:txBody>
      </p:sp>
      <p:sp>
        <p:nvSpPr>
          <p:cNvPr id="4" name="Text 1"/>
          <p:cNvSpPr txBox="1"/>
          <p:nvPr/>
        </p:nvSpPr>
        <p:spPr>
          <a:xfrm>
            <a:off x="660380" y="1397020"/>
            <a:ext cx="1930390" cy="247620"/>
          </a:xfrm>
          <a:prstGeom prst="roundRect">
            <a:avLst>
              <a:gd name="adj" fmla="val 50000"/>
            </a:avLst>
          </a:prstGeom>
          <a:solidFill>
            <a:srgbClr val="4D9DFF">
              <a:alpha val="12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234950" tIns="0" rIns="0" bIns="0" rtlCol="0" anchor="ctr"/>
          <a:lstStyle/>
          <a:p>
            <a:pPr algn="l" indent="0" marL="0">
              <a:buNone/>
            </a:pPr>
            <a:r>
              <a:rPr lang="zh-TW" altLang="en-US" sz="750" spc="90" kern="0" dirty="0">
                <a:solidFill>
                  <a:srgbClr val="4D9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PEOPLE ON THE BUS</a:t>
            </a:r>
            <a:endParaRPr lang="zh-TW" sz="750" dirty="0"/>
          </a:p>
        </p:txBody>
      </p:sp>
      <p:sp>
        <p:nvSpPr>
          <p:cNvPr id="5" name="Shape 2"/>
          <p:cNvSpPr/>
          <p:nvPr/>
        </p:nvSpPr>
        <p:spPr>
          <a:xfrm>
            <a:off x="781080" y="1495410"/>
            <a:ext cx="50841" cy="50841"/>
          </a:xfrm>
          <a:prstGeom prst="ellipse">
            <a:avLst/>
          </a:prstGeom>
          <a:solidFill>
            <a:srgbClr val="4D9DFF"/>
          </a:solidFill>
          <a:ln/>
          <a:effectLst>
            <a:outerShdw sx="100000" sy="100000" kx="0" ky="0" algn="bl" rotWithShape="0" blurRad="101600" dist="50800" dir="16200000">
              <a:srgbClr val="4D9DFF">
                <a:alpha val="7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60380" y="1904970"/>
            <a:ext cx="95250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75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</a:t>
            </a:r>
            <a:r>
              <a:rPr lang="zh-TW" altLang="en-US" sz="75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智慧招募自動化</a:t>
            </a:r>
            <a:endParaRPr lang="zh-TW" sz="7500" dirty="0"/>
          </a:p>
        </p:txBody>
      </p:sp>
      <p:sp>
        <p:nvSpPr>
          <p:cNvPr id="7" name="Text 4"/>
          <p:cNvSpPr txBox="1"/>
          <p:nvPr/>
        </p:nvSpPr>
        <p:spPr>
          <a:xfrm>
            <a:off x="660380" y="3270260"/>
            <a:ext cx="825502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zh-TW" altLang="en-US" sz="15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 AI 與流程自動化，提升從人才吸引、履歷篩選到面試安排的招募效率。</a:t>
            </a:r>
            <a:endParaRPr lang="zh-TW" sz="1550" dirty="0"/>
          </a:p>
          <a:p>
            <a:pPr algn="l" indent="0" marL="0">
              <a:lnSpc>
                <a:spcPts val="2730"/>
              </a:lnSpc>
              <a:buNone/>
            </a:pPr>
            <a:r>
              <a:rPr lang="zh-TW" altLang="en-US" sz="155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延伸企業既有 HR 系統能力，而非取代現有系統。</a:t>
            </a:r>
            <a:endParaRPr lang="zh-TW" sz="1550" dirty="0"/>
          </a:p>
        </p:txBody>
      </p:sp>
      <p:sp>
        <p:nvSpPr>
          <p:cNvPr id="8" name="Shape 5"/>
          <p:cNvSpPr/>
          <p:nvPr/>
        </p:nvSpPr>
        <p:spPr>
          <a:xfrm>
            <a:off x="660380" y="5543550"/>
            <a:ext cx="10871210" cy="0"/>
          </a:xfrm>
          <a:prstGeom prst="line">
            <a:avLst/>
          </a:prstGeom>
          <a:noFill/>
          <a:ln w="12700">
            <a:solidFill>
              <a:srgbClr val="4D9DFF">
                <a:alpha val="4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7909" y="5464180"/>
            <a:ext cx="158740" cy="158740"/>
          </a:xfrm>
          <a:prstGeom prst="ellipse">
            <a:avLst/>
          </a:prstGeom>
          <a:solidFill>
            <a:srgbClr val="F4EDE3">
              <a:alpha val="9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416040" y="5502311"/>
            <a:ext cx="82570" cy="82570"/>
          </a:xfrm>
          <a:prstGeom prst="ellipse">
            <a:avLst/>
          </a:prstGeom>
          <a:solidFill>
            <a:srgbClr val="F4EDE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3580" y="5683270"/>
            <a:ext cx="158749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人才吸引</a:t>
            </a:r>
            <a:endParaRPr lang="zh-TW" sz="1100" dirty="0"/>
          </a:p>
        </p:txBody>
      </p:sp>
      <p:sp>
        <p:nvSpPr>
          <p:cNvPr id="12" name="Shape 9"/>
          <p:cNvSpPr/>
          <p:nvPr/>
        </p:nvSpPr>
        <p:spPr>
          <a:xfrm>
            <a:off x="3232130" y="5464180"/>
            <a:ext cx="158740" cy="158740"/>
          </a:xfrm>
          <a:prstGeom prst="ellipse">
            <a:avLst/>
          </a:prstGeom>
          <a:solidFill>
            <a:srgbClr val="F4EDE3">
              <a:alpha val="9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270260" y="5502311"/>
            <a:ext cx="82570" cy="82570"/>
          </a:xfrm>
          <a:prstGeom prst="ellipse">
            <a:avLst/>
          </a:prstGeom>
          <a:solidFill>
            <a:srgbClr val="F4EDE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517800" y="5683270"/>
            <a:ext cx="158749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履歷彙整</a:t>
            </a:r>
            <a:endParaRPr lang="zh-TW" sz="1100" dirty="0"/>
          </a:p>
        </p:txBody>
      </p:sp>
      <p:sp>
        <p:nvSpPr>
          <p:cNvPr id="15" name="Shape 12"/>
          <p:cNvSpPr/>
          <p:nvPr/>
        </p:nvSpPr>
        <p:spPr>
          <a:xfrm>
            <a:off x="5086350" y="5464180"/>
            <a:ext cx="158740" cy="158740"/>
          </a:xfrm>
          <a:prstGeom prst="ellipse">
            <a:avLst/>
          </a:prstGeom>
          <a:solidFill>
            <a:srgbClr val="4D9DFF">
              <a:alpha val="16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124480" y="5502311"/>
            <a:ext cx="82570" cy="82570"/>
          </a:xfrm>
          <a:prstGeom prst="ellipse">
            <a:avLst/>
          </a:prstGeom>
          <a:solidFill>
            <a:srgbClr val="4D9DFF"/>
          </a:solidFill>
          <a:ln/>
          <a:effectLst>
            <a:outerShdw sx="100000" sy="100000" kx="0" ky="0" algn="bl" rotWithShape="0" blurRad="101600" dist="50800" dir="16200000">
              <a:srgbClr val="4D9DFF">
                <a:alpha val="7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372021" y="5683270"/>
            <a:ext cx="158749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人才配對</a:t>
            </a:r>
            <a:endParaRPr lang="zh-TW" sz="1100" dirty="0"/>
          </a:p>
        </p:txBody>
      </p:sp>
      <p:sp>
        <p:nvSpPr>
          <p:cNvPr id="18" name="Shape 15"/>
          <p:cNvSpPr/>
          <p:nvPr/>
        </p:nvSpPr>
        <p:spPr>
          <a:xfrm>
            <a:off x="6946880" y="5464180"/>
            <a:ext cx="158740" cy="158740"/>
          </a:xfrm>
          <a:prstGeom prst="ellipse">
            <a:avLst/>
          </a:prstGeom>
          <a:solidFill>
            <a:srgbClr val="F4EDE3">
              <a:alpha val="9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985010" y="5502311"/>
            <a:ext cx="82570" cy="82570"/>
          </a:xfrm>
          <a:prstGeom prst="ellipse">
            <a:avLst/>
          </a:prstGeom>
          <a:solidFill>
            <a:srgbClr val="F4EDE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32550" y="5683270"/>
            <a:ext cx="158749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招募人員審核</a:t>
            </a:r>
            <a:endParaRPr lang="zh-TW" sz="1100" dirty="0"/>
          </a:p>
        </p:txBody>
      </p:sp>
      <p:sp>
        <p:nvSpPr>
          <p:cNvPr id="21" name="Shape 18"/>
          <p:cNvSpPr/>
          <p:nvPr/>
        </p:nvSpPr>
        <p:spPr>
          <a:xfrm>
            <a:off x="8801100" y="5464180"/>
            <a:ext cx="158740" cy="158740"/>
          </a:xfrm>
          <a:prstGeom prst="ellipse">
            <a:avLst/>
          </a:prstGeom>
          <a:solidFill>
            <a:srgbClr val="4D9DFF">
              <a:alpha val="16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839230" y="5502311"/>
            <a:ext cx="82570" cy="82570"/>
          </a:xfrm>
          <a:prstGeom prst="ellipse">
            <a:avLst/>
          </a:prstGeom>
          <a:solidFill>
            <a:srgbClr val="4D9DFF"/>
          </a:solidFill>
          <a:ln/>
          <a:effectLst>
            <a:outerShdw sx="100000" sy="100000" kx="0" ky="0" algn="bl" rotWithShape="0" blurRad="101600" dist="50800" dir="16200000">
              <a:srgbClr val="4D9DFF">
                <a:alpha val="7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086771" y="5683270"/>
            <a:ext cx="158749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智慧面試排程</a:t>
            </a:r>
            <a:endParaRPr lang="zh-TW" sz="1100" dirty="0"/>
          </a:p>
        </p:txBody>
      </p:sp>
      <p:sp>
        <p:nvSpPr>
          <p:cNvPr id="24" name="Shape 21"/>
          <p:cNvSpPr/>
          <p:nvPr/>
        </p:nvSpPr>
        <p:spPr>
          <a:xfrm>
            <a:off x="10661630" y="5464180"/>
            <a:ext cx="158740" cy="158740"/>
          </a:xfrm>
          <a:prstGeom prst="ellipse">
            <a:avLst/>
          </a:prstGeom>
          <a:solidFill>
            <a:srgbClr val="F4EDE3">
              <a:alpha val="9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0699760" y="5502311"/>
            <a:ext cx="82570" cy="82570"/>
          </a:xfrm>
          <a:prstGeom prst="ellipse">
            <a:avLst/>
          </a:prstGeom>
          <a:solidFill>
            <a:srgbClr val="F4EDE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947300" y="5683270"/>
            <a:ext cx="158749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人才評估</a:t>
            </a:r>
            <a:endParaRPr lang="zh-TW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0" y="634959"/>
            <a:ext cx="3047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zh-TW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77859" y="431780"/>
            <a:ext cx="10553730" cy="42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當招募規模快速成長，如何更有效率地找到「對的人」？</a:t>
            </a:r>
            <a:endParaRPr lang="zh-TW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60380" y="6578559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800" spc="13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zh-TW" sz="800" dirty="0"/>
          </a:p>
        </p:txBody>
      </p:sp>
      <p:sp>
        <p:nvSpPr>
          <p:cNvPr id="5" name="Shape 3"/>
          <p:cNvSpPr/>
          <p:nvPr/>
        </p:nvSpPr>
        <p:spPr>
          <a:xfrm>
            <a:off x="660380" y="1974830"/>
            <a:ext cx="3314700" cy="2844790"/>
          </a:xfrm>
          <a:prstGeom prst="roundRect">
            <a:avLst>
              <a:gd name="adj" fmla="val 3124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2670" y="2184410"/>
            <a:ext cx="2920959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新進員工</a:t>
            </a:r>
            <a:endParaRPr lang="zh-TW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82670" y="2413010"/>
            <a:ext cx="2920959" cy="7937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zh-TW" altLang="en-US" sz="6200" b="1" dirty="0">
                <a:solidFill>
                  <a:srgbClr val="F4EDE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638</a:t>
            </a:r>
            <a:r>
              <a:rPr lang="zh-TW" altLang="en-US" sz="2200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人</a:t>
            </a:r>
            <a:endParaRPr lang="zh-TW" sz="6200" dirty="0"/>
          </a:p>
        </p:txBody>
      </p:sp>
      <p:sp>
        <p:nvSpPr>
          <p:cNvPr id="8" name="Shape 6"/>
          <p:cNvSpPr/>
          <p:nvPr/>
        </p:nvSpPr>
        <p:spPr>
          <a:xfrm>
            <a:off x="882670" y="3956060"/>
            <a:ext cx="2870210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2670" y="4089380"/>
            <a:ext cx="2984510" cy="260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年研華台灣總部新進員工</a:t>
            </a:r>
            <a:endParaRPr lang="zh-TW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82670" y="4400550"/>
            <a:ext cx="2920959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 年為 344 人</a:t>
            </a:r>
            <a:endParaRPr lang="zh-TW" sz="1050" dirty="0"/>
          </a:p>
        </p:txBody>
      </p:sp>
      <p:sp>
        <p:nvSpPr>
          <p:cNvPr id="11" name="Shape 9"/>
          <p:cNvSpPr/>
          <p:nvPr/>
        </p:nvSpPr>
        <p:spPr>
          <a:xfrm>
            <a:off x="4140220" y="1974830"/>
            <a:ext cx="3911620" cy="2844790"/>
          </a:xfrm>
          <a:prstGeom prst="roundRect">
            <a:avLst>
              <a:gd name="adj" fmla="val 3124"/>
            </a:avLst>
          </a:prstGeom>
          <a:solidFill>
            <a:srgbClr val="4D9DFF">
              <a:alpha val="8000"/>
            </a:srgbClr>
          </a:solidFill>
          <a:ln w="9525">
            <a:solidFill>
              <a:srgbClr val="4D9DFF">
                <a:alpha val="36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62420" y="2184410"/>
            <a:ext cx="2920959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研華人才招募核心理念</a:t>
            </a:r>
            <a:endParaRPr lang="zh-TW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362420" y="2457450"/>
            <a:ext cx="35560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500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Right People on the Bus</a:t>
            </a:r>
            <a:endParaRPr lang="zh-TW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62420" y="2882920"/>
            <a:ext cx="355601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0"/>
              </a:lnSpc>
              <a:buNone/>
            </a:pPr>
            <a:r>
              <a:rPr lang="zh-TW" altLang="en-US" sz="2000" b="1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「先找到對的人，</a:t>
            </a:r>
            <a:endParaRPr lang="zh-TW" sz="2000" dirty="0"/>
          </a:p>
          <a:p>
            <a:pPr algn="l" indent="0" marL="0">
              <a:lnSpc>
                <a:spcPts val="2920"/>
              </a:lnSpc>
              <a:buNone/>
            </a:pPr>
            <a:r>
              <a:rPr lang="zh-TW" altLang="en-US" sz="2000" b="1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再決定要做什麼」</a:t>
            </a:r>
            <a:endParaRPr lang="zh-TW" sz="2000" dirty="0"/>
          </a:p>
        </p:txBody>
      </p:sp>
      <p:sp>
        <p:nvSpPr>
          <p:cNvPr id="15" name="Shape 13"/>
          <p:cNvSpPr/>
          <p:nvPr/>
        </p:nvSpPr>
        <p:spPr>
          <a:xfrm>
            <a:off x="4362420" y="4267230"/>
            <a:ext cx="3467130" cy="0"/>
          </a:xfrm>
          <a:prstGeom prst="line">
            <a:avLst/>
          </a:prstGeom>
          <a:noFill/>
          <a:ln w="9525">
            <a:solidFill>
              <a:srgbClr val="4D9DFF">
                <a:alpha val="36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62420" y="4400550"/>
            <a:ext cx="3556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人才決策的品質，決定後續所有決策的品質。</a:t>
            </a:r>
            <a:endParaRPr lang="zh-TW" sz="1050" dirty="0"/>
          </a:p>
        </p:txBody>
      </p:sp>
      <p:sp>
        <p:nvSpPr>
          <p:cNvPr id="17" name="Shape 15"/>
          <p:cNvSpPr/>
          <p:nvPr/>
        </p:nvSpPr>
        <p:spPr>
          <a:xfrm>
            <a:off x="8216890" y="1974830"/>
            <a:ext cx="3314700" cy="2844790"/>
          </a:xfrm>
          <a:prstGeom prst="roundRect">
            <a:avLst>
              <a:gd name="adj" fmla="val 3124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39180" y="2184410"/>
            <a:ext cx="2920959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Elite 招募計畫</a:t>
            </a:r>
            <a:endParaRPr lang="zh-TW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439180" y="2413010"/>
            <a:ext cx="2920959" cy="79379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zh-TW" altLang="en-US" sz="6200" b="1" dirty="0">
                <a:solidFill>
                  <a:srgbClr val="F4EDE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</a:t>
            </a:r>
            <a:r>
              <a:rPr lang="zh-TW" altLang="en-US" sz="3000" b="1" dirty="0">
                <a:solidFill>
                  <a:srgbClr val="F4EDE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</a:t>
            </a:r>
            <a:endParaRPr lang="zh-TW" sz="6200" dirty="0"/>
          </a:p>
        </p:txBody>
      </p:sp>
      <p:sp>
        <p:nvSpPr>
          <p:cNvPr id="20" name="Shape 18"/>
          <p:cNvSpPr/>
          <p:nvPr/>
        </p:nvSpPr>
        <p:spPr>
          <a:xfrm>
            <a:off x="8439180" y="3956060"/>
            <a:ext cx="2870210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39180" y="4089380"/>
            <a:ext cx="3016240" cy="260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年 Elite 系列招募活動整體成效</a:t>
            </a:r>
            <a:endParaRPr lang="zh-TW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439180" y="4400550"/>
            <a:ext cx="2920959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高於原訂 20% 目標</a:t>
            </a:r>
            <a:endParaRPr lang="zh-TW" sz="1050" dirty="0"/>
          </a:p>
        </p:txBody>
      </p:sp>
      <p:sp>
        <p:nvSpPr>
          <p:cNvPr id="23" name="Shape 21"/>
          <p:cNvSpPr/>
          <p:nvPr/>
        </p:nvSpPr>
        <p:spPr>
          <a:xfrm>
            <a:off x="660380" y="5035509"/>
            <a:ext cx="10871210" cy="501640"/>
          </a:xfrm>
          <a:prstGeom prst="rect">
            <a:avLst/>
          </a:prstGeom>
          <a:solidFill>
            <a:srgbClr val="4D9DFF">
              <a:alpha val="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60380" y="5035509"/>
            <a:ext cx="19020" cy="501640"/>
          </a:xfrm>
          <a:prstGeom prst="rect">
            <a:avLst/>
          </a:prstGeom>
          <a:solidFill>
            <a:srgbClr val="4D9D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7250" y="5035509"/>
            <a:ext cx="10541020" cy="50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當招募規模持續成長，如何將「找到對的人」的能力，延伸到更大規模的日常招募流程？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0" y="634959"/>
            <a:ext cx="3047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zh-TW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77859" y="431780"/>
            <a:ext cx="10553730" cy="42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可以如何延伸既有招募流程？</a:t>
            </a:r>
            <a:endParaRPr lang="zh-TW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60380" y="6578559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800" spc="13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endParaRPr lang="zh-TW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356610" y="622341"/>
            <a:ext cx="3174980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現有流程 ＋ AI 增強點</a:t>
            </a:r>
            <a:endParaRPr lang="zh-TW" sz="950" dirty="0"/>
          </a:p>
        </p:txBody>
      </p:sp>
      <p:sp>
        <p:nvSpPr>
          <p:cNvPr id="6" name="Shape 4"/>
          <p:cNvSpPr/>
          <p:nvPr/>
        </p:nvSpPr>
        <p:spPr>
          <a:xfrm>
            <a:off x="660380" y="2089130"/>
            <a:ext cx="2616190" cy="1250991"/>
          </a:xfrm>
          <a:prstGeom prst="roundRect">
            <a:avLst>
              <a:gd name="adj" fmla="val 6089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1830" y="2260580"/>
            <a:ext cx="508041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b="1" dirty="0">
                <a:solidFill>
                  <a:srgbClr val="5A64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zh-TW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31830" y="2520909"/>
            <a:ext cx="2349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多元人才來源</a:t>
            </a:r>
            <a:endParaRPr lang="zh-TW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31830" y="2825770"/>
            <a:ext cx="2349459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TW" altLang="en-US" sz="9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104｜企業人才網站</a:t>
            </a:r>
            <a:endParaRPr lang="zh-TW" sz="900" dirty="0"/>
          </a:p>
          <a:p>
            <a:pPr algn="l" indent="0" marL="0">
              <a:lnSpc>
                <a:spcPts val="1400"/>
              </a:lnSpc>
              <a:buNone/>
            </a:pPr>
            <a:r>
              <a:rPr lang="zh-TW" altLang="en-US" sz="9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員工推薦｜Elite 招募計畫</a:t>
            </a:r>
            <a:endParaRPr lang="zh-TW" sz="900" dirty="0"/>
          </a:p>
        </p:txBody>
      </p:sp>
      <p:sp>
        <p:nvSpPr>
          <p:cNvPr id="10" name="Shape 8"/>
          <p:cNvSpPr/>
          <p:nvPr/>
        </p:nvSpPr>
        <p:spPr>
          <a:xfrm>
            <a:off x="3327410" y="267654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327410" y="2714671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6290" y="2089130"/>
            <a:ext cx="2616190" cy="1250991"/>
          </a:xfrm>
          <a:prstGeom prst="roundRect">
            <a:avLst>
              <a:gd name="adj" fmla="val 6089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87740" y="2260580"/>
            <a:ext cx="508041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b="1" dirty="0">
                <a:solidFill>
                  <a:srgbClr val="5A64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zh-TW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87740" y="2520909"/>
            <a:ext cx="2349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履歷彙整</a:t>
            </a:r>
            <a:endParaRPr lang="zh-TW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87740" y="2825770"/>
            <a:ext cx="2349459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TW" altLang="en-US" sz="9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不同來源的履歷進入統一流程</a:t>
            </a:r>
            <a:endParaRPr lang="zh-TW" sz="900" dirty="0"/>
          </a:p>
        </p:txBody>
      </p:sp>
      <p:sp>
        <p:nvSpPr>
          <p:cNvPr id="16" name="Shape 14"/>
          <p:cNvSpPr/>
          <p:nvPr/>
        </p:nvSpPr>
        <p:spPr>
          <a:xfrm>
            <a:off x="6083320" y="267654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083320" y="2714671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5891" y="2089130"/>
            <a:ext cx="2616190" cy="1250991"/>
          </a:xfrm>
          <a:prstGeom prst="roundRect">
            <a:avLst>
              <a:gd name="adj" fmla="val 6089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37341" y="2260580"/>
            <a:ext cx="508041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b="1" dirty="0">
                <a:solidFill>
                  <a:srgbClr val="5A64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zh-TW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37341" y="2520909"/>
            <a:ext cx="2349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履歷篩選與人才初步排序</a:t>
            </a:r>
            <a:endParaRPr lang="zh-TW" sz="1300" dirty="0"/>
          </a:p>
        </p:txBody>
      </p:sp>
      <p:sp>
        <p:nvSpPr>
          <p:cNvPr id="21" name="Shape 19"/>
          <p:cNvSpPr/>
          <p:nvPr/>
        </p:nvSpPr>
        <p:spPr>
          <a:xfrm>
            <a:off x="6337341" y="2914650"/>
            <a:ext cx="2273290" cy="0"/>
          </a:xfrm>
          <a:prstGeom prst="line">
            <a:avLst/>
          </a:prstGeom>
          <a:noFill/>
          <a:ln w="9525">
            <a:solidFill>
              <a:srgbClr val="4D9DFF">
                <a:alpha val="36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337341" y="3060680"/>
            <a:ext cx="50841" cy="50841"/>
          </a:xfrm>
          <a:prstGeom prst="ellipse">
            <a:avLst/>
          </a:prstGeom>
          <a:solidFill>
            <a:srgbClr val="4D9DFF"/>
          </a:solidFill>
          <a:ln/>
          <a:effectLst>
            <a:outerShdw sx="100000" sy="100000" kx="0" ky="0" algn="bl" rotWithShape="0" blurRad="101600" dist="50800" dir="16200000">
              <a:srgbClr val="4D9DFF">
                <a:alpha val="7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51641" y="2997220"/>
            <a:ext cx="2222541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人才適配分析</a:t>
            </a:r>
            <a:endParaRPr lang="zh-TW" sz="950" dirty="0"/>
          </a:p>
        </p:txBody>
      </p:sp>
      <p:sp>
        <p:nvSpPr>
          <p:cNvPr id="24" name="Shape 22"/>
          <p:cNvSpPr/>
          <p:nvPr/>
        </p:nvSpPr>
        <p:spPr>
          <a:xfrm>
            <a:off x="8832830" y="267654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8832830" y="2714671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21709" y="2089130"/>
            <a:ext cx="2616190" cy="1250991"/>
          </a:xfrm>
          <a:prstGeom prst="roundRect">
            <a:avLst>
              <a:gd name="adj" fmla="val 6089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93159" y="2260580"/>
            <a:ext cx="508041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b="1" dirty="0">
                <a:solidFill>
                  <a:srgbClr val="5A64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zh-TW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093159" y="2520909"/>
            <a:ext cx="2349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招募人員審核</a:t>
            </a:r>
            <a:endParaRPr lang="zh-TW" sz="1300" dirty="0"/>
          </a:p>
        </p:txBody>
      </p:sp>
      <p:sp>
        <p:nvSpPr>
          <p:cNvPr id="29" name="Shape 27"/>
          <p:cNvSpPr/>
          <p:nvPr/>
        </p:nvSpPr>
        <p:spPr>
          <a:xfrm>
            <a:off x="9093159" y="2914650"/>
            <a:ext cx="2273290" cy="0"/>
          </a:xfrm>
          <a:prstGeom prst="line">
            <a:avLst/>
          </a:prstGeom>
          <a:noFill/>
          <a:ln w="9525">
            <a:solidFill>
              <a:srgbClr val="4D9DFF">
                <a:alpha val="36000"/>
              </a:srgbClr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093159" y="3060680"/>
            <a:ext cx="50841" cy="50841"/>
          </a:xfrm>
          <a:prstGeom prst="ellipse">
            <a:avLst/>
          </a:prstGeom>
          <a:solidFill>
            <a:srgbClr val="4D9DFF"/>
          </a:solidFill>
          <a:ln/>
          <a:effectLst>
            <a:outerShdw sx="100000" sy="100000" kx="0" ky="0" algn="bl" rotWithShape="0" blurRad="101600" dist="50800" dir="16200000">
              <a:srgbClr val="4D9DFF">
                <a:alpha val="7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207459" y="2997220"/>
            <a:ext cx="2222541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協助候選人優先排序</a:t>
            </a:r>
            <a:endParaRPr lang="zh-TW" sz="950" dirty="0"/>
          </a:p>
        </p:txBody>
      </p:sp>
      <p:sp>
        <p:nvSpPr>
          <p:cNvPr id="32" name="Shape 30"/>
          <p:cNvSpPr/>
          <p:nvPr/>
        </p:nvSpPr>
        <p:spPr>
          <a:xfrm>
            <a:off x="660380" y="3467130"/>
            <a:ext cx="2616190" cy="1250991"/>
          </a:xfrm>
          <a:prstGeom prst="roundRect">
            <a:avLst>
              <a:gd name="adj" fmla="val 6089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1830" y="3638580"/>
            <a:ext cx="508041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b="1" dirty="0">
                <a:solidFill>
                  <a:srgbClr val="5A64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zh-TW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31830" y="3898910"/>
            <a:ext cx="2349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用人主管審核</a:t>
            </a:r>
            <a:endParaRPr lang="zh-TW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31830" y="4203680"/>
            <a:ext cx="2349459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TW" altLang="en-US" sz="9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確認人選是否符合團隊需求</a:t>
            </a:r>
            <a:endParaRPr lang="zh-TW" sz="900" dirty="0"/>
          </a:p>
        </p:txBody>
      </p:sp>
      <p:sp>
        <p:nvSpPr>
          <p:cNvPr id="36" name="Shape 34"/>
          <p:cNvSpPr/>
          <p:nvPr/>
        </p:nvSpPr>
        <p:spPr>
          <a:xfrm>
            <a:off x="3327410" y="405445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3327410" y="409258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16290" y="3467130"/>
            <a:ext cx="2616190" cy="1250991"/>
          </a:xfrm>
          <a:prstGeom prst="roundRect">
            <a:avLst>
              <a:gd name="adj" fmla="val 6089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87740" y="3638580"/>
            <a:ext cx="508041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b="1" dirty="0">
                <a:solidFill>
                  <a:srgbClr val="5A64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zh-TW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587740" y="3898910"/>
            <a:ext cx="2349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面試安排</a:t>
            </a:r>
            <a:endParaRPr lang="zh-TW" sz="1300" dirty="0"/>
          </a:p>
        </p:txBody>
      </p:sp>
      <p:sp>
        <p:nvSpPr>
          <p:cNvPr id="41" name="Shape 39"/>
          <p:cNvSpPr/>
          <p:nvPr/>
        </p:nvSpPr>
        <p:spPr>
          <a:xfrm>
            <a:off x="3587740" y="4292559"/>
            <a:ext cx="2273290" cy="0"/>
          </a:xfrm>
          <a:prstGeom prst="line">
            <a:avLst/>
          </a:prstGeom>
          <a:noFill/>
          <a:ln w="9525">
            <a:solidFill>
              <a:srgbClr val="4D9DFF">
                <a:alpha val="36000"/>
              </a:srgbClr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587740" y="4438680"/>
            <a:ext cx="50841" cy="50841"/>
          </a:xfrm>
          <a:prstGeom prst="ellipse">
            <a:avLst/>
          </a:prstGeom>
          <a:solidFill>
            <a:srgbClr val="4D9DFF"/>
          </a:solidFill>
          <a:ln/>
          <a:effectLst>
            <a:outerShdw sx="100000" sy="100000" kx="0" ky="0" algn="bl" rotWithShape="0" blurRad="101600" dist="50800" dir="16200000">
              <a:srgbClr val="4D9DFF">
                <a:alpha val="7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3702040" y="4375130"/>
            <a:ext cx="2222541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智慧面試排程</a:t>
            </a:r>
            <a:endParaRPr lang="zh-TW" sz="950" dirty="0"/>
          </a:p>
        </p:txBody>
      </p:sp>
      <p:sp>
        <p:nvSpPr>
          <p:cNvPr id="44" name="Shape 42"/>
          <p:cNvSpPr/>
          <p:nvPr/>
        </p:nvSpPr>
        <p:spPr>
          <a:xfrm>
            <a:off x="6083320" y="405445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6083320" y="409258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65891" y="3467130"/>
            <a:ext cx="2616190" cy="1250991"/>
          </a:xfrm>
          <a:prstGeom prst="roundRect">
            <a:avLst>
              <a:gd name="adj" fmla="val 6089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37341" y="3638580"/>
            <a:ext cx="508041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b="1" dirty="0">
                <a:solidFill>
                  <a:srgbClr val="5A64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zh-TW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6337341" y="3898910"/>
            <a:ext cx="2349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面試評估與人才決策</a:t>
            </a:r>
            <a:endParaRPr lang="zh-TW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337341" y="4203680"/>
            <a:ext cx="2349459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TW" altLang="en-US" sz="9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彙整面試回饋，決定錄用人選</a:t>
            </a:r>
            <a:endParaRPr lang="zh-TW" sz="900" dirty="0"/>
          </a:p>
        </p:txBody>
      </p:sp>
      <p:sp>
        <p:nvSpPr>
          <p:cNvPr id="50" name="Shape 48"/>
          <p:cNvSpPr/>
          <p:nvPr/>
        </p:nvSpPr>
        <p:spPr>
          <a:xfrm>
            <a:off x="8832830" y="405445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8832830" y="409258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21709" y="3467130"/>
            <a:ext cx="2616190" cy="1250991"/>
          </a:xfrm>
          <a:prstGeom prst="roundRect">
            <a:avLst>
              <a:gd name="adj" fmla="val 6089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093159" y="3638580"/>
            <a:ext cx="508041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b="1" dirty="0">
                <a:solidFill>
                  <a:srgbClr val="5A64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zh-TW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9093159" y="3898910"/>
            <a:ext cx="2349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錄用與新人報到</a:t>
            </a:r>
            <a:endParaRPr lang="zh-TW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093159" y="4203680"/>
            <a:ext cx="2349459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zh-TW" altLang="en-US" sz="9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完成錄取流程並銜接報到</a:t>
            </a:r>
            <a:endParaRPr lang="zh-TW" sz="900" dirty="0"/>
          </a:p>
        </p:txBody>
      </p:sp>
      <p:sp>
        <p:nvSpPr>
          <p:cNvPr id="56" name="Shape 54"/>
          <p:cNvSpPr/>
          <p:nvPr/>
        </p:nvSpPr>
        <p:spPr>
          <a:xfrm>
            <a:off x="660380" y="4927610"/>
            <a:ext cx="10871210" cy="501640"/>
          </a:xfrm>
          <a:prstGeom prst="rect">
            <a:avLst/>
          </a:prstGeom>
          <a:solidFill>
            <a:srgbClr val="4D9DFF">
              <a:alpha val="9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60380" y="4927610"/>
            <a:ext cx="19020" cy="501640"/>
          </a:xfrm>
          <a:prstGeom prst="rect">
            <a:avLst/>
          </a:prstGeom>
          <a:solidFill>
            <a:srgbClr val="4D9DF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57250" y="4927610"/>
            <a:ext cx="10541020" cy="50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協助分析與排序，最終人才決策仍由招募人員與用人主管負責。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0" y="634959"/>
            <a:ext cx="3047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zh-TW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77859" y="431780"/>
            <a:ext cx="10553730" cy="42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宜鼎案例：從分散作業走向 AI 智慧招募</a:t>
            </a:r>
            <a:endParaRPr lang="zh-TW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60380" y="6578559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800" spc="13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INNODISK · BEFORE / AFTER</a:t>
            </a:r>
            <a:endParaRPr lang="zh-TW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985010" y="628650"/>
            <a:ext cx="3409980" cy="16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850" spc="15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</a:t>
            </a:r>
            <a:endParaRPr lang="zh-TW" sz="850" dirty="0"/>
          </a:p>
        </p:txBody>
      </p:sp>
      <p:pic>
        <p:nvPicPr>
          <p:cNvPr id="6" name="Image 0" descr="/Users/candace/code/slides/pptx/assets/innodisk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4620" y="615940"/>
            <a:ext cx="996970" cy="1904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0380" y="1797070"/>
            <a:ext cx="190497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導入前</a:t>
            </a:r>
            <a:endParaRPr lang="zh-TW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060680" y="1854220"/>
            <a:ext cx="1904970" cy="146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750" spc="12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zh-TW" sz="750" dirty="0"/>
          </a:p>
        </p:txBody>
      </p:sp>
      <p:sp>
        <p:nvSpPr>
          <p:cNvPr id="9" name="Shape 6"/>
          <p:cNvSpPr/>
          <p:nvPr/>
        </p:nvSpPr>
        <p:spPr>
          <a:xfrm>
            <a:off x="660380" y="2171700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6409" y="2378080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52530" y="2171700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多來源履歷</a:t>
            </a:r>
            <a:endParaRPr lang="zh-TW" sz="1150" dirty="0"/>
          </a:p>
        </p:txBody>
      </p:sp>
      <p:sp>
        <p:nvSpPr>
          <p:cNvPr id="12" name="Shape 9"/>
          <p:cNvSpPr/>
          <p:nvPr/>
        </p:nvSpPr>
        <p:spPr>
          <a:xfrm>
            <a:off x="660380" y="2686050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6409" y="2892430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52530" y="2686050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人工整理</a:t>
            </a:r>
            <a:endParaRPr lang="zh-TW" sz="1150" dirty="0"/>
          </a:p>
        </p:txBody>
      </p:sp>
      <p:sp>
        <p:nvSpPr>
          <p:cNvPr id="15" name="Shape 12"/>
          <p:cNvSpPr/>
          <p:nvPr/>
        </p:nvSpPr>
        <p:spPr>
          <a:xfrm>
            <a:off x="660380" y="3206709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6409" y="3413089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2530" y="3206709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逐份履歷篩選</a:t>
            </a:r>
            <a:endParaRPr lang="zh-TW" sz="1150" dirty="0"/>
          </a:p>
        </p:txBody>
      </p:sp>
      <p:sp>
        <p:nvSpPr>
          <p:cNvPr id="18" name="Shape 15"/>
          <p:cNvSpPr/>
          <p:nvPr/>
        </p:nvSpPr>
        <p:spPr>
          <a:xfrm>
            <a:off x="660380" y="3721059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409" y="3927439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2530" y="3721059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人工聯繫候選人</a:t>
            </a:r>
            <a:endParaRPr lang="zh-TW" sz="1150" dirty="0"/>
          </a:p>
        </p:txBody>
      </p:sp>
      <p:sp>
        <p:nvSpPr>
          <p:cNvPr id="21" name="Shape 18"/>
          <p:cNvSpPr/>
          <p:nvPr/>
        </p:nvSpPr>
        <p:spPr>
          <a:xfrm>
            <a:off x="660380" y="4241810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6409" y="4448190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52530" y="4241810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往返確認面試時間</a:t>
            </a:r>
            <a:endParaRPr lang="zh-TW" sz="1150" dirty="0"/>
          </a:p>
        </p:txBody>
      </p:sp>
      <p:sp>
        <p:nvSpPr>
          <p:cNvPr id="24" name="Shape 21"/>
          <p:cNvSpPr/>
          <p:nvPr/>
        </p:nvSpPr>
        <p:spPr>
          <a:xfrm>
            <a:off x="660380" y="4756160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6409" y="4962540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52530" y="4756160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安排面試</a:t>
            </a:r>
            <a:endParaRPr lang="zh-TW" sz="1150" dirty="0"/>
          </a:p>
        </p:txBody>
      </p:sp>
      <p:sp>
        <p:nvSpPr>
          <p:cNvPr id="27" name="Shape 24"/>
          <p:cNvSpPr/>
          <p:nvPr/>
        </p:nvSpPr>
        <p:spPr>
          <a:xfrm>
            <a:off x="660380" y="5276820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6409" y="5483200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52530" y="5276820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整理面試結果</a:t>
            </a:r>
            <a:endParaRPr lang="zh-TW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226320" y="1797070"/>
            <a:ext cx="190497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導入後</a:t>
            </a:r>
            <a:endParaRPr lang="zh-TW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626620" y="1854220"/>
            <a:ext cx="1904970" cy="146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750" spc="12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zh-TW" sz="750" dirty="0"/>
          </a:p>
        </p:txBody>
      </p:sp>
      <p:sp>
        <p:nvSpPr>
          <p:cNvPr id="32" name="Shape 29"/>
          <p:cNvSpPr/>
          <p:nvPr/>
        </p:nvSpPr>
        <p:spPr>
          <a:xfrm>
            <a:off x="7226320" y="2171700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131A24"/>
          </a:solidFill>
          <a:ln w="9525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72350" y="2378080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518380" y="2171700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履歷集中彙整</a:t>
            </a:r>
            <a:endParaRPr lang="zh-TW" sz="1150" dirty="0"/>
          </a:p>
        </p:txBody>
      </p:sp>
      <p:sp>
        <p:nvSpPr>
          <p:cNvPr id="35" name="Shape 32"/>
          <p:cNvSpPr/>
          <p:nvPr/>
        </p:nvSpPr>
        <p:spPr>
          <a:xfrm>
            <a:off x="7226320" y="2686050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131A24"/>
          </a:solidFill>
          <a:ln w="9525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72350" y="2892430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518380" y="2686050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人才適配分析</a:t>
            </a:r>
            <a:endParaRPr lang="zh-TW" sz="1150" dirty="0"/>
          </a:p>
        </p:txBody>
      </p:sp>
      <p:sp>
        <p:nvSpPr>
          <p:cNvPr id="38" name="Shape 35"/>
          <p:cNvSpPr/>
          <p:nvPr/>
        </p:nvSpPr>
        <p:spPr>
          <a:xfrm>
            <a:off x="7226320" y="3206709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131A24"/>
          </a:solidFill>
          <a:ln w="9525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372350" y="3413089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518380" y="3206709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候選人優先排序</a:t>
            </a:r>
            <a:endParaRPr lang="zh-TW" sz="1150" dirty="0"/>
          </a:p>
        </p:txBody>
      </p:sp>
      <p:sp>
        <p:nvSpPr>
          <p:cNvPr id="41" name="Shape 38"/>
          <p:cNvSpPr/>
          <p:nvPr/>
        </p:nvSpPr>
        <p:spPr>
          <a:xfrm>
            <a:off x="7226320" y="3721059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131A24"/>
          </a:solidFill>
          <a:ln w="9525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372350" y="3927439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518380" y="3721059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招募人員審核</a:t>
            </a:r>
            <a:endParaRPr lang="zh-TW" sz="1150" dirty="0"/>
          </a:p>
        </p:txBody>
      </p:sp>
      <p:sp>
        <p:nvSpPr>
          <p:cNvPr id="44" name="Shape 41"/>
          <p:cNvSpPr/>
          <p:nvPr/>
        </p:nvSpPr>
        <p:spPr>
          <a:xfrm>
            <a:off x="7226320" y="4241810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131A24"/>
          </a:solidFill>
          <a:ln w="9525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372350" y="4448190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518380" y="4241810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候選人自動通知</a:t>
            </a:r>
            <a:endParaRPr lang="zh-TW" sz="1150" dirty="0"/>
          </a:p>
        </p:txBody>
      </p:sp>
      <p:sp>
        <p:nvSpPr>
          <p:cNvPr id="47" name="Shape 44"/>
          <p:cNvSpPr/>
          <p:nvPr/>
        </p:nvSpPr>
        <p:spPr>
          <a:xfrm>
            <a:off x="7226320" y="4756160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131A24"/>
          </a:solidFill>
          <a:ln w="9525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372350" y="4962540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518380" y="4756160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智慧面試排程</a:t>
            </a:r>
            <a:endParaRPr lang="zh-TW" sz="1150" dirty="0"/>
          </a:p>
        </p:txBody>
      </p:sp>
      <p:sp>
        <p:nvSpPr>
          <p:cNvPr id="50" name="Shape 47"/>
          <p:cNvSpPr/>
          <p:nvPr/>
        </p:nvSpPr>
        <p:spPr>
          <a:xfrm>
            <a:off x="7226320" y="5276820"/>
            <a:ext cx="4305270" cy="450891"/>
          </a:xfrm>
          <a:prstGeom prst="roundRect">
            <a:avLst>
              <a:gd name="adj" fmla="val 14074"/>
            </a:avLst>
          </a:prstGeom>
          <a:solidFill>
            <a:srgbClr val="131A24"/>
          </a:solidFill>
          <a:ln w="9525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372350" y="5483200"/>
            <a:ext cx="38130" cy="38130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7518380" y="5276820"/>
            <a:ext cx="3810030" cy="4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50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面試評估集中管理</a:t>
            </a:r>
            <a:endParaRPr lang="zh-TW" sz="1150" dirty="0"/>
          </a:p>
        </p:txBody>
      </p:sp>
      <p:sp>
        <p:nvSpPr>
          <p:cNvPr id="53" name="Shape 50"/>
          <p:cNvSpPr/>
          <p:nvPr/>
        </p:nvSpPr>
        <p:spPr>
          <a:xfrm>
            <a:off x="5143500" y="1797070"/>
            <a:ext cx="1904970" cy="3930640"/>
          </a:xfrm>
          <a:prstGeom prst="roundRect">
            <a:avLst>
              <a:gd name="adj" fmla="val 4666"/>
            </a:avLst>
          </a:prstGeom>
          <a:solidFill>
            <a:srgbClr val="4D9DFF">
              <a:alpha val="7000"/>
            </a:srgbClr>
          </a:solidFill>
          <a:ln w="9525">
            <a:solidFill>
              <a:srgbClr val="4D9DFF">
                <a:alpha val="36000"/>
              </a:srgbClr>
            </a:solidFill>
            <a:prstDash val="solid"/>
          </a:ln>
        </p:spPr>
      </p:sp>
      <p:pic>
        <p:nvPicPr>
          <p:cNvPr id="54" name="Image 1" descr="/Users/candace/code/slides/pptx/assets/bct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309" y="3067080"/>
            <a:ext cx="749259" cy="190470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5206959" y="3397270"/>
            <a:ext cx="1777959" cy="48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zh-TW" altLang="en-US" sz="1350" b="1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智慧招募</a:t>
            </a:r>
            <a:endParaRPr lang="zh-TW" sz="1350" dirty="0"/>
          </a:p>
          <a:p>
            <a:pPr algn="ctr" indent="0" marL="0">
              <a:lnSpc>
                <a:spcPts val="1920"/>
              </a:lnSpc>
              <a:buNone/>
            </a:pPr>
            <a:r>
              <a:rPr lang="zh-TW" altLang="en-US" sz="1350" b="1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</a:t>
            </a:r>
            <a:endParaRPr lang="zh-TW" sz="1350" dirty="0"/>
          </a:p>
        </p:txBody>
      </p:sp>
      <p:sp>
        <p:nvSpPr>
          <p:cNvPr id="56" name="Text 52"/>
          <p:cNvSpPr txBox="1"/>
          <p:nvPr/>
        </p:nvSpPr>
        <p:spPr>
          <a:xfrm>
            <a:off x="5206959" y="4025920"/>
            <a:ext cx="1777959" cy="42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80"/>
              </a:lnSpc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協助排序</a:t>
            </a:r>
            <a:endParaRPr lang="zh-TW" sz="1050" dirty="0"/>
          </a:p>
          <a:p>
            <a:pPr algn="ctr" indent="0" marL="0">
              <a:lnSpc>
                <a:spcPts val="1680"/>
              </a:lnSpc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掌握最終決策</a:t>
            </a:r>
            <a:endParaRPr lang="zh-TW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0" y="634959"/>
            <a:ext cx="3047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zh-TW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77859" y="431780"/>
            <a:ext cx="10553730" cy="42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宜鼎案例：招募人員實際怎麼使用？</a:t>
            </a:r>
            <a:endParaRPr lang="zh-TW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60380" y="6578559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800" spc="13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INNODISK · IN PRACTICE</a:t>
            </a:r>
            <a:endParaRPr lang="zh-TW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854970" y="622341"/>
            <a:ext cx="2540020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9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從一個職缺開始</a:t>
            </a:r>
            <a:endParaRPr lang="zh-TW" sz="950" dirty="0"/>
          </a:p>
        </p:txBody>
      </p:sp>
      <p:pic>
        <p:nvPicPr>
          <p:cNvPr id="6" name="Image 0" descr="/Users/candace/code/slides/pptx/assets/innodisk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4620" y="615940"/>
            <a:ext cx="996970" cy="1904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5520" y="1924080"/>
            <a:ext cx="0" cy="2952780"/>
          </a:xfrm>
          <a:prstGeom prst="line">
            <a:avLst/>
          </a:prstGeom>
          <a:noFill/>
          <a:ln w="1270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0380" y="1873240"/>
            <a:ext cx="330190" cy="330190"/>
          </a:xfrm>
          <a:prstGeom prst="ellipse">
            <a:avLst/>
          </a:prstGeom>
          <a:solidFill>
            <a:srgbClr val="0F141B"/>
          </a:solidFill>
          <a:ln w="9525">
            <a:solidFill>
              <a:srgbClr val="9AB4D2">
                <a:alpha val="2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9AA3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zh-TW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55710" y="1860530"/>
            <a:ext cx="46354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5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建立職缺需求</a:t>
            </a:r>
            <a:endParaRPr lang="zh-TW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155710" y="2165391"/>
            <a:ext cx="463545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招募人員與用人主管確認人才條件</a:t>
            </a:r>
            <a:endParaRPr lang="zh-TW" sz="1050" dirty="0"/>
          </a:p>
        </p:txBody>
      </p:sp>
      <p:sp>
        <p:nvSpPr>
          <p:cNvPr id="11" name="Shape 8"/>
          <p:cNvSpPr/>
          <p:nvPr/>
        </p:nvSpPr>
        <p:spPr>
          <a:xfrm>
            <a:off x="1155710" y="2546330"/>
            <a:ext cx="4635459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0380" y="2717780"/>
            <a:ext cx="330190" cy="330190"/>
          </a:xfrm>
          <a:prstGeom prst="ellipse">
            <a:avLst/>
          </a:prstGeom>
          <a:solidFill>
            <a:srgbClr val="0F141B"/>
          </a:solidFill>
          <a:ln w="9525">
            <a:solidFill>
              <a:srgbClr val="9AB4D2">
                <a:alpha val="2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9AA3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zh-TW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55710" y="2705070"/>
            <a:ext cx="46354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5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彙整候選人履歷</a:t>
            </a:r>
            <a:endParaRPr lang="zh-TW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155710" y="3009930"/>
            <a:ext cx="463545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不同招募來源的履歷進入統一流程</a:t>
            </a:r>
            <a:endParaRPr lang="zh-TW" sz="1050" dirty="0"/>
          </a:p>
        </p:txBody>
      </p:sp>
      <p:sp>
        <p:nvSpPr>
          <p:cNvPr id="15" name="Shape 12"/>
          <p:cNvSpPr/>
          <p:nvPr/>
        </p:nvSpPr>
        <p:spPr>
          <a:xfrm>
            <a:off x="1155710" y="3397270"/>
            <a:ext cx="4635459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0380" y="3568720"/>
            <a:ext cx="330190" cy="330190"/>
          </a:xfrm>
          <a:prstGeom prst="ellipse">
            <a:avLst/>
          </a:prstGeom>
          <a:solidFill>
            <a:srgbClr val="0F141B"/>
          </a:solidFill>
          <a:ln w="9525">
            <a:solidFill>
              <a:srgbClr val="9AB4D2">
                <a:alpha val="2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9AA3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zh-TW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55710" y="3556010"/>
            <a:ext cx="46354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5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人才適配分析</a:t>
            </a:r>
            <a:endParaRPr lang="zh-TW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1155710" y="3860780"/>
            <a:ext cx="463545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依職缺條件與候選人履歷進行分析與優先排序</a:t>
            </a:r>
            <a:endParaRPr lang="zh-TW" sz="1050" dirty="0"/>
          </a:p>
        </p:txBody>
      </p:sp>
      <p:sp>
        <p:nvSpPr>
          <p:cNvPr id="19" name="Shape 16"/>
          <p:cNvSpPr/>
          <p:nvPr/>
        </p:nvSpPr>
        <p:spPr>
          <a:xfrm>
            <a:off x="1155710" y="4248120"/>
            <a:ext cx="4635459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0380" y="4419570"/>
            <a:ext cx="330190" cy="330190"/>
          </a:xfrm>
          <a:prstGeom prst="ellipse">
            <a:avLst/>
          </a:prstGeom>
          <a:solidFill>
            <a:srgbClr val="0F141B"/>
          </a:solidFill>
          <a:ln w="9525">
            <a:solidFill>
              <a:srgbClr val="9AB4D2">
                <a:alpha val="2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9AA3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zh-TW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55710" y="4406859"/>
            <a:ext cx="46354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5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招募人員審核</a:t>
            </a:r>
            <a:endParaRPr lang="zh-TW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1155710" y="4711720"/>
            <a:ext cx="463545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優先檢視高適配候選人，最終篩選由招募人員決定</a:t>
            </a:r>
            <a:endParaRPr lang="zh-TW" sz="1050" dirty="0"/>
          </a:p>
        </p:txBody>
      </p:sp>
      <p:sp>
        <p:nvSpPr>
          <p:cNvPr id="23" name="Shape 20"/>
          <p:cNvSpPr/>
          <p:nvPr/>
        </p:nvSpPr>
        <p:spPr>
          <a:xfrm>
            <a:off x="6565941" y="1924080"/>
            <a:ext cx="0" cy="2952780"/>
          </a:xfrm>
          <a:prstGeom prst="line">
            <a:avLst/>
          </a:prstGeom>
          <a:noFill/>
          <a:ln w="1270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1873240"/>
            <a:ext cx="330190" cy="330190"/>
          </a:xfrm>
          <a:prstGeom prst="ellipse">
            <a:avLst/>
          </a:prstGeom>
          <a:solidFill>
            <a:srgbClr val="0F141B"/>
          </a:solidFill>
          <a:ln w="9525">
            <a:solidFill>
              <a:srgbClr val="9AB4D2">
                <a:alpha val="2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9AA3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zh-TW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96130" y="1860530"/>
            <a:ext cx="46354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5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用人主管確認</a:t>
            </a:r>
            <a:endParaRPr lang="zh-TW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6896130" y="2165391"/>
            <a:ext cx="463545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將合適候選人提供用人主管進一步審核</a:t>
            </a:r>
            <a:endParaRPr lang="zh-TW" sz="1050" dirty="0"/>
          </a:p>
        </p:txBody>
      </p:sp>
      <p:sp>
        <p:nvSpPr>
          <p:cNvPr id="27" name="Shape 24"/>
          <p:cNvSpPr/>
          <p:nvPr/>
        </p:nvSpPr>
        <p:spPr>
          <a:xfrm>
            <a:off x="6896130" y="2546330"/>
            <a:ext cx="4635459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2717780"/>
            <a:ext cx="330190" cy="330190"/>
          </a:xfrm>
          <a:prstGeom prst="ellipse">
            <a:avLst/>
          </a:prstGeom>
          <a:solidFill>
            <a:srgbClr val="0F141B"/>
          </a:solidFill>
          <a:ln w="9525">
            <a:solidFill>
              <a:srgbClr val="9AB4D2">
                <a:alpha val="2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9AA3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zh-TW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896130" y="2705070"/>
            <a:ext cx="46354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5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發送面試邀請</a:t>
            </a:r>
            <a:endParaRPr lang="zh-TW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6896130" y="3009930"/>
            <a:ext cx="463545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系統依條件自動通知候選人</a:t>
            </a:r>
            <a:endParaRPr lang="zh-TW" sz="1050" dirty="0"/>
          </a:p>
        </p:txBody>
      </p:sp>
      <p:sp>
        <p:nvSpPr>
          <p:cNvPr id="31" name="Shape 28"/>
          <p:cNvSpPr/>
          <p:nvPr/>
        </p:nvSpPr>
        <p:spPr>
          <a:xfrm>
            <a:off x="6896130" y="3397270"/>
            <a:ext cx="4635459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0" y="3568720"/>
            <a:ext cx="330190" cy="330190"/>
          </a:xfrm>
          <a:prstGeom prst="ellipse">
            <a:avLst/>
          </a:prstGeom>
          <a:solidFill>
            <a:srgbClr val="0F141B"/>
          </a:solidFill>
          <a:ln w="9525">
            <a:solidFill>
              <a:srgbClr val="9AB4D2">
                <a:alpha val="2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9AA3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zh-TW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896130" y="3556010"/>
            <a:ext cx="46354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5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智慧面試排程</a:t>
            </a:r>
            <a:endParaRPr lang="zh-TW" sz="1450" dirty="0"/>
          </a:p>
        </p:txBody>
      </p:sp>
      <p:sp>
        <p:nvSpPr>
          <p:cNvPr id="34" name="Text 31"/>
          <p:cNvSpPr txBox="1"/>
          <p:nvPr/>
        </p:nvSpPr>
        <p:spPr>
          <a:xfrm>
            <a:off x="6896130" y="3860780"/>
            <a:ext cx="463545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協調候選人、面試主管與會議資源</a:t>
            </a:r>
            <a:endParaRPr lang="zh-TW" sz="1050" dirty="0"/>
          </a:p>
        </p:txBody>
      </p:sp>
      <p:sp>
        <p:nvSpPr>
          <p:cNvPr id="35" name="Shape 32"/>
          <p:cNvSpPr/>
          <p:nvPr/>
        </p:nvSpPr>
        <p:spPr>
          <a:xfrm>
            <a:off x="6896130" y="4248120"/>
            <a:ext cx="4635459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0" y="4419570"/>
            <a:ext cx="330190" cy="330190"/>
          </a:xfrm>
          <a:prstGeom prst="ellipse">
            <a:avLst/>
          </a:prstGeom>
          <a:solidFill>
            <a:srgbClr val="0F141B"/>
          </a:solidFill>
          <a:ln w="9525">
            <a:solidFill>
              <a:srgbClr val="9AB4D2">
                <a:alpha val="2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9AA3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zh-TW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896130" y="4406859"/>
            <a:ext cx="4635459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5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面試與評估</a:t>
            </a:r>
            <a:endParaRPr lang="zh-TW" sz="1450" dirty="0"/>
          </a:p>
        </p:txBody>
      </p:sp>
      <p:sp>
        <p:nvSpPr>
          <p:cNvPr id="38" name="Text 35"/>
          <p:cNvSpPr txBox="1"/>
          <p:nvPr/>
        </p:nvSpPr>
        <p:spPr>
          <a:xfrm>
            <a:off x="6896130" y="4711720"/>
            <a:ext cx="4635459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彙整面試結果，協助後續人才決策</a:t>
            </a:r>
            <a:endParaRPr lang="zh-TW" sz="1050" dirty="0"/>
          </a:p>
        </p:txBody>
      </p:sp>
      <p:sp>
        <p:nvSpPr>
          <p:cNvPr id="39" name="Shape 36"/>
          <p:cNvSpPr/>
          <p:nvPr/>
        </p:nvSpPr>
        <p:spPr>
          <a:xfrm>
            <a:off x="660380" y="5308641"/>
            <a:ext cx="10871210" cy="501640"/>
          </a:xfrm>
          <a:prstGeom prst="rect">
            <a:avLst/>
          </a:prstGeom>
          <a:solidFill>
            <a:srgbClr val="4D9DFF">
              <a:alpha val="9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60380" y="5308641"/>
            <a:ext cx="19020" cy="501640"/>
          </a:xfrm>
          <a:prstGeom prst="rect">
            <a:avLst/>
          </a:prstGeom>
          <a:solidFill>
            <a:srgbClr val="4D9D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857250" y="5308641"/>
            <a:ext cx="10541020" cy="50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從一個職缺開始，看 AI 如何融入日常招募工作。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0" y="634959"/>
            <a:ext cx="3047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zh-TW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77859" y="431780"/>
            <a:ext cx="10553730" cy="42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宜鼎案例：導入前後的招募流程改變</a:t>
            </a:r>
            <a:endParaRPr lang="zh-TW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60380" y="6578559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800" spc="13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zh-TW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985010" y="628650"/>
            <a:ext cx="3409980" cy="16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850" spc="15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</a:t>
            </a:r>
            <a:endParaRPr lang="zh-TW" sz="850" dirty="0"/>
          </a:p>
        </p:txBody>
      </p:sp>
      <p:pic>
        <p:nvPicPr>
          <p:cNvPr id="6" name="Image 0" descr="/Users/candace/code/slides/pptx/assets/innodisk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4620" y="615940"/>
            <a:ext cx="996970" cy="19047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380" y="1689080"/>
          <a:ext cx="10871210" cy="914400"/>
        </p:xfrm>
        <a:graphic>
          <a:graphicData uri="http://schemas.openxmlformats.org/drawingml/2006/table">
            <a:tbl>
              <a:tblPr/>
              <a:tblGrid>
                <a:gridCol w="5435559"/>
                <a:gridCol w="5435559"/>
              </a:tblGrid>
              <a:tr h="3937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950" b="1" dirty="0">
                          <a:solidFill>
                            <a:srgbClr val="5A647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導入前</a:t>
                      </a:r>
                      <a:endParaRPr lang="zh-TW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950" b="1" dirty="0">
                          <a:solidFill>
                            <a:srgbClr val="4D9D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導入後</a:t>
                      </a:r>
                      <a:endParaRPr lang="zh-TW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D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403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9AA3A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不同來源履歷人工整理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4EDE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履歷集中彙整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1D"/>
                    </a:solidFill>
                  </a:tcPr>
                </a:tc>
              </a:tr>
              <a:tr h="403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9AA3A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招募人員逐份進行初步篩選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4EDE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協助排序，優先檢視高適配人才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1D"/>
                    </a:solidFill>
                  </a:tcPr>
                </a:tc>
              </a:tr>
              <a:tr h="403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9AA3A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人工寄送候選人通知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4EDE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依招募階段自動通知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1D"/>
                    </a:solidFill>
                  </a:tcPr>
                </a:tc>
              </a:tr>
              <a:tr h="403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9AA3A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Email 往返確認面試時間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4EDE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智慧面試排程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1D"/>
                    </a:solidFill>
                  </a:tcPr>
                </a:tc>
              </a:tr>
              <a:tr h="403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9AA3A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人工確認主管與會議資源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4EDE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自動協調可用時間與資源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1D"/>
                    </a:solidFill>
                  </a:tcPr>
                </a:tc>
              </a:tr>
              <a:tr h="4038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9AA3A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面試回饋分散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4EDE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評估結果集中彙整</a:t>
                      </a:r>
                      <a:endParaRPr lang="zh-TW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65100" marR="165100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E2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1D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60380" y="4660880"/>
            <a:ext cx="5359390" cy="1168420"/>
          </a:xfrm>
          <a:prstGeom prst="roundRect">
            <a:avLst>
              <a:gd name="adj" fmla="val 6519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31830" y="4794291"/>
            <a:ext cx="5016490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預期價值</a:t>
            </a:r>
            <a:endParaRPr lang="zh-TW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831830" y="5054620"/>
            <a:ext cx="1473190" cy="292059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減少重複性行政工作</a:t>
            </a:r>
            <a:endParaRPr lang="zh-TW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2393991" y="5054620"/>
            <a:ext cx="1333470" cy="292059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縮短招募作業時間</a:t>
            </a:r>
            <a:endParaRPr lang="zh-TW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3816340" y="5054620"/>
            <a:ext cx="1333470" cy="292059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提升人才篩選效率</a:t>
            </a:r>
            <a:endParaRPr lang="zh-TW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31830" y="5403830"/>
            <a:ext cx="1193841" cy="292059"/>
          </a:xfrm>
          <a:prstGeom prst="roundRect">
            <a:avLst>
              <a:gd name="adj" fmla="val 50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改善候選人體驗</a:t>
            </a:r>
            <a:endParaRPr lang="zh-TW" sz="1050" dirty="0"/>
          </a:p>
        </p:txBody>
      </p:sp>
      <p:sp>
        <p:nvSpPr>
          <p:cNvPr id="14" name="Shape 10"/>
          <p:cNvSpPr/>
          <p:nvPr/>
        </p:nvSpPr>
        <p:spPr>
          <a:xfrm>
            <a:off x="6172200" y="4660880"/>
            <a:ext cx="5359390" cy="1168420"/>
          </a:xfrm>
          <a:prstGeom prst="roundRect">
            <a:avLst>
              <a:gd name="adj" fmla="val 6519"/>
            </a:avLst>
          </a:prstGeom>
          <a:solidFill>
            <a:srgbClr val="4D9DFF">
              <a:alpha val="8000"/>
            </a:srgbClr>
          </a:solidFill>
          <a:ln w="9525">
            <a:solidFill>
              <a:srgbClr val="4D9DFF">
                <a:alpha val="3600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43650" y="4794291"/>
            <a:ext cx="5016490" cy="18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95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建議成效衡量指標</a:t>
            </a:r>
            <a:endParaRPr lang="zh-TW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6343650" y="5054620"/>
            <a:ext cx="1231880" cy="292059"/>
          </a:xfrm>
          <a:prstGeom prst="roundRect">
            <a:avLst>
              <a:gd name="adj" fmla="val 50000"/>
            </a:avLst>
          </a:prstGeom>
          <a:solidFill>
            <a:srgbClr val="4D9DFF">
              <a:alpha val="6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履歷初篩時間 ↓</a:t>
            </a:r>
            <a:endParaRPr lang="zh-TW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7664409" y="5054620"/>
            <a:ext cx="1231880" cy="292059"/>
          </a:xfrm>
          <a:prstGeom prst="roundRect">
            <a:avLst>
              <a:gd name="adj" fmla="val 50000"/>
            </a:avLst>
          </a:prstGeom>
          <a:solidFill>
            <a:srgbClr val="4D9DFF">
              <a:alpha val="6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面試安排時間 ↓</a:t>
            </a:r>
            <a:endParaRPr lang="zh-TW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985260" y="5054620"/>
            <a:ext cx="1498610" cy="292059"/>
          </a:xfrm>
          <a:prstGeom prst="roundRect">
            <a:avLst>
              <a:gd name="adj" fmla="val 50000"/>
            </a:avLst>
          </a:prstGeom>
          <a:solidFill>
            <a:srgbClr val="4D9DFF">
              <a:alpha val="6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招募行政作業時間 ↓</a:t>
            </a:r>
            <a:endParaRPr lang="zh-TW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343650" y="5403830"/>
            <a:ext cx="2044690" cy="292059"/>
          </a:xfrm>
          <a:prstGeom prst="roundRect">
            <a:avLst>
              <a:gd name="adj" fmla="val 50000"/>
            </a:avLst>
          </a:prstGeom>
          <a:solidFill>
            <a:srgbClr val="4D9DFF">
              <a:alpha val="6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用人主管接受推薦人選比例 ↑</a:t>
            </a:r>
            <a:endParaRPr lang="zh-TW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0" y="634959"/>
            <a:ext cx="3047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zh-TW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77859" y="431780"/>
            <a:ext cx="10553730" cy="42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延伸既有 HR 生態系，而非取代現有系統</a:t>
            </a:r>
            <a:endParaRPr lang="zh-TW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60380" y="6578559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800" spc="13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zh-TW" sz="800" dirty="0"/>
          </a:p>
        </p:txBody>
      </p:sp>
      <p:sp>
        <p:nvSpPr>
          <p:cNvPr id="5" name="Shape 3"/>
          <p:cNvSpPr/>
          <p:nvPr/>
        </p:nvSpPr>
        <p:spPr>
          <a:xfrm>
            <a:off x="660380" y="1644640"/>
            <a:ext cx="10871210" cy="793791"/>
          </a:xfrm>
          <a:prstGeom prst="roundRect">
            <a:avLst>
              <a:gd name="adj" fmla="val 11197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2670" y="1803380"/>
            <a:ext cx="2540020" cy="146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750" spc="12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</a:t>
            </a:r>
            <a:endParaRPr lang="zh-TW" sz="750" dirty="0"/>
          </a:p>
        </p:txBody>
      </p:sp>
      <p:sp>
        <p:nvSpPr>
          <p:cNvPr id="7" name="Text 5"/>
          <p:cNvSpPr txBox="1"/>
          <p:nvPr/>
        </p:nvSpPr>
        <p:spPr>
          <a:xfrm>
            <a:off x="882670" y="2000250"/>
            <a:ext cx="2794041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5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人才來源</a:t>
            </a:r>
            <a:endParaRPr lang="zh-TW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638580" y="1873240"/>
            <a:ext cx="508041" cy="336591"/>
          </a:xfrm>
          <a:prstGeom prst="roundRect">
            <a:avLst>
              <a:gd name="adj" fmla="val 1510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104</a:t>
            </a:r>
            <a:endParaRPr lang="zh-TW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22791" y="1873240"/>
            <a:ext cx="1117580" cy="336591"/>
          </a:xfrm>
          <a:prstGeom prst="roundRect">
            <a:avLst>
              <a:gd name="adj" fmla="val 1510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企業人才網站</a:t>
            </a:r>
            <a:endParaRPr lang="zh-TW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16540" y="1873240"/>
            <a:ext cx="838230" cy="336591"/>
          </a:xfrm>
          <a:prstGeom prst="roundRect">
            <a:avLst>
              <a:gd name="adj" fmla="val 1510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員工推薦</a:t>
            </a:r>
            <a:endParaRPr lang="zh-TW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330940" y="1873240"/>
            <a:ext cx="1117580" cy="336591"/>
          </a:xfrm>
          <a:prstGeom prst="roundRect">
            <a:avLst>
              <a:gd name="adj" fmla="val 1510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其他招募管道</a:t>
            </a:r>
            <a:endParaRPr lang="zh-TW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05470" y="2527310"/>
            <a:ext cx="38103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zh-TW" sz="1200" dirty="0"/>
          </a:p>
        </p:txBody>
      </p:sp>
      <p:sp>
        <p:nvSpPr>
          <p:cNvPr id="13" name="Shape 11"/>
          <p:cNvSpPr/>
          <p:nvPr/>
        </p:nvSpPr>
        <p:spPr>
          <a:xfrm>
            <a:off x="660380" y="2794041"/>
            <a:ext cx="10871210" cy="793791"/>
          </a:xfrm>
          <a:prstGeom prst="roundRect">
            <a:avLst>
              <a:gd name="adj" fmla="val 11197"/>
            </a:avLst>
          </a:prstGeom>
          <a:solidFill>
            <a:srgbClr val="4D9DFF">
              <a:alpha val="9000"/>
            </a:srgbClr>
          </a:solidFill>
          <a:ln w="9525">
            <a:solidFill>
              <a:srgbClr val="4D9DFF">
                <a:alpha val="36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2670" y="2952780"/>
            <a:ext cx="2540020" cy="146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750" spc="12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AUTOMATION LAYER</a:t>
            </a:r>
            <a:endParaRPr lang="zh-TW" sz="750" dirty="0"/>
          </a:p>
        </p:txBody>
      </p:sp>
      <p:pic>
        <p:nvPicPr>
          <p:cNvPr id="15" name="Image 0" descr="/Users/candace/code/slides/pptx/assets/bc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70" y="3206709"/>
            <a:ext cx="654070" cy="165141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638330" y="3149559"/>
            <a:ext cx="203838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50" b="1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智慧招募自動化</a:t>
            </a:r>
            <a:endParaRPr lang="zh-TW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3638580" y="3022641"/>
            <a:ext cx="838230" cy="336591"/>
          </a:xfrm>
          <a:prstGeom prst="roundRect">
            <a:avLst>
              <a:gd name="adj" fmla="val 15105"/>
            </a:avLst>
          </a:prstGeom>
          <a:solidFill>
            <a:srgbClr val="4D9DFF">
              <a:alpha val="6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履歷整合</a:t>
            </a:r>
            <a:endParaRPr lang="zh-TW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52980" y="3022641"/>
            <a:ext cx="996970" cy="336591"/>
          </a:xfrm>
          <a:prstGeom prst="roundRect">
            <a:avLst>
              <a:gd name="adj" fmla="val 15105"/>
            </a:avLst>
          </a:prstGeom>
          <a:solidFill>
            <a:srgbClr val="4D9DFF">
              <a:alpha val="6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人才適配</a:t>
            </a:r>
            <a:endParaRPr lang="zh-TW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626120" y="3022641"/>
            <a:ext cx="1250991" cy="336591"/>
          </a:xfrm>
          <a:prstGeom prst="roundRect">
            <a:avLst>
              <a:gd name="adj" fmla="val 15105"/>
            </a:avLst>
          </a:prstGeom>
          <a:solidFill>
            <a:srgbClr val="4D9DFF">
              <a:alpha val="6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候選人優先排序</a:t>
            </a:r>
            <a:endParaRPr lang="zh-TW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953280" y="3022641"/>
            <a:ext cx="977859" cy="336591"/>
          </a:xfrm>
          <a:prstGeom prst="roundRect">
            <a:avLst>
              <a:gd name="adj" fmla="val 15105"/>
            </a:avLst>
          </a:prstGeom>
          <a:solidFill>
            <a:srgbClr val="4D9DFF">
              <a:alpha val="6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流程自動化</a:t>
            </a:r>
            <a:endParaRPr lang="zh-TW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007309" y="3022641"/>
            <a:ext cx="838230" cy="336591"/>
          </a:xfrm>
          <a:prstGeom prst="roundRect">
            <a:avLst>
              <a:gd name="adj" fmla="val 15105"/>
            </a:avLst>
          </a:prstGeom>
          <a:solidFill>
            <a:srgbClr val="4D9DFF">
              <a:alpha val="6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面試協調</a:t>
            </a:r>
            <a:endParaRPr lang="zh-TW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921709" y="3022641"/>
            <a:ext cx="977859" cy="336591"/>
          </a:xfrm>
          <a:prstGeom prst="roundRect">
            <a:avLst>
              <a:gd name="adj" fmla="val 15105"/>
            </a:avLst>
          </a:prstGeom>
          <a:solidFill>
            <a:srgbClr val="4D9DFF">
              <a:alpha val="6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候選人溝通</a:t>
            </a:r>
            <a:endParaRPr lang="zh-TW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905470" y="3676620"/>
            <a:ext cx="381030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zh-TW" sz="1200" dirty="0"/>
          </a:p>
        </p:txBody>
      </p:sp>
      <p:sp>
        <p:nvSpPr>
          <p:cNvPr id="24" name="Shape 21"/>
          <p:cNvSpPr/>
          <p:nvPr/>
        </p:nvSpPr>
        <p:spPr>
          <a:xfrm>
            <a:off x="660380" y="3943350"/>
            <a:ext cx="10871210" cy="793791"/>
          </a:xfrm>
          <a:prstGeom prst="roundRect">
            <a:avLst>
              <a:gd name="adj" fmla="val 11197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82670" y="4102090"/>
            <a:ext cx="2540020" cy="146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750" spc="12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 SYSTEMS</a:t>
            </a:r>
            <a:endParaRPr lang="zh-TW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82670" y="4298960"/>
            <a:ext cx="2794041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5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企業既有 HR 生態系</a:t>
            </a:r>
            <a:endParaRPr lang="zh-TW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3638580" y="4171950"/>
            <a:ext cx="850941" cy="336591"/>
          </a:xfrm>
          <a:prstGeom prst="roundRect">
            <a:avLst>
              <a:gd name="adj" fmla="val 1510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Workday</a:t>
            </a:r>
            <a:endParaRPr lang="zh-TW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65691" y="4171950"/>
            <a:ext cx="647670" cy="336591"/>
          </a:xfrm>
          <a:prstGeom prst="roundRect">
            <a:avLst>
              <a:gd name="adj" fmla="val 1510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zh-TW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289530" y="4171950"/>
            <a:ext cx="863559" cy="336591"/>
          </a:xfrm>
          <a:prstGeom prst="roundRect">
            <a:avLst>
              <a:gd name="adj" fmla="val 1510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Calendar</a:t>
            </a:r>
            <a:endParaRPr lang="zh-TW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29350" y="4171950"/>
            <a:ext cx="698510" cy="336591"/>
          </a:xfrm>
          <a:prstGeom prst="roundRect">
            <a:avLst>
              <a:gd name="adj" fmla="val 1510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</a:t>
            </a:r>
            <a:endParaRPr lang="zh-TW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004030" y="4171950"/>
            <a:ext cx="1117580" cy="336591"/>
          </a:xfrm>
          <a:prstGeom prst="roundRect">
            <a:avLst>
              <a:gd name="adj" fmla="val 1510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9AB4D2">
                <a:alpha val="14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其他企業系統</a:t>
            </a:r>
            <a:endParaRPr lang="zh-TW" sz="1100" dirty="0"/>
          </a:p>
        </p:txBody>
      </p:sp>
      <p:sp>
        <p:nvSpPr>
          <p:cNvPr id="32" name="Shape 29"/>
          <p:cNvSpPr/>
          <p:nvPr/>
        </p:nvSpPr>
        <p:spPr>
          <a:xfrm>
            <a:off x="660380" y="4953030"/>
            <a:ext cx="10871210" cy="501640"/>
          </a:xfrm>
          <a:prstGeom prst="rect">
            <a:avLst/>
          </a:prstGeom>
          <a:solidFill>
            <a:srgbClr val="4D9DFF">
              <a:alpha val="9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60380" y="4953030"/>
            <a:ext cx="19020" cy="501640"/>
          </a:xfrm>
          <a:prstGeom prst="rect">
            <a:avLst/>
          </a:prstGeom>
          <a:solidFill>
            <a:srgbClr val="4D9D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57250" y="4953030"/>
            <a:ext cx="10541020" cy="50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保留既有 HR 投資，補足跨平台、跨角色與跨流程的自動化需求。</a:t>
            </a:r>
            <a:endParaRPr lang="zh-TW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60380" y="5670560"/>
            <a:ext cx="10871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研華自 2023 年正式導入 Workday，並已應用於人才發展及內部轉調等流程。</a:t>
            </a:r>
            <a:endParaRPr lang="zh-TW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0" y="634959"/>
            <a:ext cx="3047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zh-TW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77859" y="431780"/>
            <a:ext cx="10553730" cy="42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從一個高價值招募情境開始</a:t>
            </a:r>
            <a:endParaRPr lang="zh-TW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60380" y="6578559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800" spc="13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zh-TW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21609" y="641360"/>
            <a:ext cx="3409980" cy="16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850" spc="15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 ROADMAP</a:t>
            </a:r>
            <a:endParaRPr lang="zh-TW" sz="850" dirty="0"/>
          </a:p>
        </p:txBody>
      </p:sp>
      <p:sp>
        <p:nvSpPr>
          <p:cNvPr id="6" name="Shape 4"/>
          <p:cNvSpPr/>
          <p:nvPr/>
        </p:nvSpPr>
        <p:spPr>
          <a:xfrm>
            <a:off x="660380" y="1968520"/>
            <a:ext cx="2616190" cy="2863809"/>
          </a:xfrm>
          <a:prstGeom prst="roundRect">
            <a:avLst>
              <a:gd name="adj" fmla="val 3397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4540" y="2133570"/>
            <a:ext cx="127001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2B34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zh-TW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44540" y="2597170"/>
            <a:ext cx="12700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700" spc="11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zh-TW" sz="700" dirty="0"/>
          </a:p>
        </p:txBody>
      </p:sp>
      <p:sp>
        <p:nvSpPr>
          <p:cNvPr id="9" name="Text 7"/>
          <p:cNvSpPr txBox="1"/>
          <p:nvPr/>
        </p:nvSpPr>
        <p:spPr>
          <a:xfrm>
            <a:off x="844540" y="2774930"/>
            <a:ext cx="22860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了解現況</a:t>
            </a:r>
            <a:endParaRPr lang="zh-TW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4540" y="3143250"/>
            <a:ext cx="2349459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選擇具代表性的 AI、研發或工程職缺</a:t>
            </a:r>
            <a:endParaRPr lang="zh-TW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44540" y="3454420"/>
            <a:ext cx="2349459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履歷來源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人才篩選方式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用人主管協作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面試安排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 Workday 流程</a:t>
            </a:r>
            <a:endParaRPr lang="zh-TW" sz="1000" dirty="0"/>
          </a:p>
        </p:txBody>
      </p:sp>
      <p:sp>
        <p:nvSpPr>
          <p:cNvPr id="12" name="Shape 10"/>
          <p:cNvSpPr/>
          <p:nvPr/>
        </p:nvSpPr>
        <p:spPr>
          <a:xfrm>
            <a:off x="3327410" y="3365541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327410" y="340358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6290" y="1968520"/>
            <a:ext cx="2616190" cy="2863809"/>
          </a:xfrm>
          <a:prstGeom prst="roundRect">
            <a:avLst>
              <a:gd name="adj" fmla="val 3397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0450" y="2133570"/>
            <a:ext cx="127001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2B34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zh-TW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3600450" y="2597170"/>
            <a:ext cx="12700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700" spc="11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zh-TW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3600450" y="2774930"/>
            <a:ext cx="22860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找出自動化機會</a:t>
            </a:r>
            <a:endParaRPr lang="zh-TW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00450" y="3143250"/>
            <a:ext cx="2349459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盤點可由 AI 承接的重複性工作</a:t>
            </a:r>
            <a:endParaRPr lang="zh-TW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600450" y="3454420"/>
            <a:ext cx="2349459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人才適配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候選人優先排序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面試排程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候選人溝通</a:t>
            </a:r>
            <a:endParaRPr lang="zh-TW" sz="1000" dirty="0"/>
          </a:p>
        </p:txBody>
      </p:sp>
      <p:sp>
        <p:nvSpPr>
          <p:cNvPr id="20" name="Shape 18"/>
          <p:cNvSpPr/>
          <p:nvPr/>
        </p:nvSpPr>
        <p:spPr>
          <a:xfrm>
            <a:off x="6083320" y="3365541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83320" y="340358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5891" y="1968520"/>
            <a:ext cx="2616190" cy="2863809"/>
          </a:xfrm>
          <a:prstGeom prst="roundRect">
            <a:avLst>
              <a:gd name="adj" fmla="val 3397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49959" y="2133570"/>
            <a:ext cx="127001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2B34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zh-TW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349959" y="2597170"/>
            <a:ext cx="12700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700" spc="11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zh-TW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6349959" y="2774930"/>
            <a:ext cx="22860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小規模驗證</a:t>
            </a:r>
            <a:endParaRPr lang="zh-TW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49959" y="3143250"/>
            <a:ext cx="2349459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1–3 個職缺，衡量：</a:t>
            </a:r>
            <a:endParaRPr lang="zh-TW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349959" y="3454420"/>
            <a:ext cx="2349459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履歷篩選時間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招募行政作業時間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推薦人選接受率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面試安排效率</a:t>
            </a:r>
            <a:endParaRPr lang="zh-TW" sz="1000" dirty="0"/>
          </a:p>
        </p:txBody>
      </p:sp>
      <p:sp>
        <p:nvSpPr>
          <p:cNvPr id="28" name="Shape 26"/>
          <p:cNvSpPr/>
          <p:nvPr/>
        </p:nvSpPr>
        <p:spPr>
          <a:xfrm>
            <a:off x="8832830" y="3365541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8832830" y="3403580"/>
            <a:ext cx="38130" cy="38130"/>
          </a:xfrm>
          <a:prstGeom prst="line">
            <a:avLst/>
          </a:prstGeom>
          <a:noFill/>
          <a:ln w="13970">
            <a:solidFill>
              <a:srgbClr val="9AB4D2">
                <a:alpha val="2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21709" y="1968520"/>
            <a:ext cx="2616190" cy="2863809"/>
          </a:xfrm>
          <a:prstGeom prst="roundRect">
            <a:avLst>
              <a:gd name="adj" fmla="val 3397"/>
            </a:avLst>
          </a:prstGeom>
          <a:solidFill>
            <a:srgbClr val="0F141B"/>
          </a:solidFill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05870" y="2133570"/>
            <a:ext cx="127001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600" b="1" dirty="0">
                <a:solidFill>
                  <a:srgbClr val="2B344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zh-TW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9105870" y="2597170"/>
            <a:ext cx="12700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700" spc="11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zh-TW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9105870" y="2774930"/>
            <a:ext cx="22860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逐步擴大</a:t>
            </a:r>
            <a:endParaRPr lang="zh-TW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105870" y="3143250"/>
            <a:ext cx="2349459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5A64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驗證有效後往外延伸</a:t>
            </a:r>
            <a:endParaRPr lang="zh-TW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105870" y="3454420"/>
            <a:ext cx="2349459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更多職缺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更多事業單位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更多人才來源</a:t>
            </a:r>
            <a:endParaRPr lang="zh-TW" sz="1000" dirty="0"/>
          </a:p>
          <a:p>
            <a:pPr algn="l" marL="114300" indent="-114300">
              <a:lnSpc>
                <a:spcPts val="1480"/>
              </a:lnSpc>
              <a:spcAft>
                <a:spcPts val="450"/>
              </a:spcAft>
              <a:buSzPct val="100000"/>
              <a:buChar char="•"/>
            </a:pPr>
            <a:r>
              <a:rPr lang="zh-TW" altLang="en-US" sz="100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更多招募流程</a:t>
            </a:r>
            <a:endParaRPr lang="zh-TW" sz="1000" dirty="0"/>
          </a:p>
        </p:txBody>
      </p:sp>
      <p:sp>
        <p:nvSpPr>
          <p:cNvPr id="36" name="Shape 34"/>
          <p:cNvSpPr/>
          <p:nvPr/>
        </p:nvSpPr>
        <p:spPr>
          <a:xfrm>
            <a:off x="660380" y="5048220"/>
            <a:ext cx="10871210" cy="501640"/>
          </a:xfrm>
          <a:prstGeom prst="rect">
            <a:avLst/>
          </a:prstGeom>
          <a:solidFill>
            <a:srgbClr val="4D9DFF">
              <a:alpha val="9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0380" y="5048220"/>
            <a:ext cx="19020" cy="501640"/>
          </a:xfrm>
          <a:prstGeom prst="rect">
            <a:avLst/>
          </a:prstGeom>
          <a:solidFill>
            <a:srgbClr val="4D9D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7250" y="5048220"/>
            <a:ext cx="10541020" cy="50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從一個實際招募情境開始，找出 AI 能降低重複性工作、同時強化「Right People on the Bus」的機會。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0" y="634959"/>
            <a:ext cx="3047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zh-TW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77859" y="431780"/>
            <a:ext cx="10553730" cy="42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27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Appendix</a:t>
            </a:r>
            <a:endParaRPr lang="zh-TW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60380" y="6578559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800" spc="13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zh-TW" sz="800" dirty="0"/>
          </a:p>
        </p:txBody>
      </p:sp>
      <p:pic>
        <p:nvPicPr>
          <p:cNvPr id="5" name="Image 0" descr="/Users/candace/code/slides/pptx/assets/bc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2330" y="615940"/>
            <a:ext cx="749259" cy="1904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0380" y="2546330"/>
            <a:ext cx="10871210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1220" y="285750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zh-TW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819370"/>
            <a:ext cx="952503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9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BCT 公司與台灣團隊介紹</a:t>
            </a:r>
            <a:endParaRPr lang="zh-TW" sz="1900" dirty="0"/>
          </a:p>
        </p:txBody>
      </p:sp>
      <p:sp>
        <p:nvSpPr>
          <p:cNvPr id="9" name="Shape 6"/>
          <p:cNvSpPr/>
          <p:nvPr/>
        </p:nvSpPr>
        <p:spPr>
          <a:xfrm>
            <a:off x="660380" y="3448020"/>
            <a:ext cx="10871210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1220" y="375919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zh-TW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3721059"/>
            <a:ext cx="952503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9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AI、資料、雲端與企業系統整合能力</a:t>
            </a:r>
            <a:endParaRPr lang="zh-TW" sz="1900" dirty="0"/>
          </a:p>
        </p:txBody>
      </p:sp>
      <p:sp>
        <p:nvSpPr>
          <p:cNvPr id="12" name="Shape 9"/>
          <p:cNvSpPr/>
          <p:nvPr/>
        </p:nvSpPr>
        <p:spPr>
          <a:xfrm>
            <a:off x="660380" y="4349709"/>
            <a:ext cx="10871210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1220" y="466088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4D9D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A3</a:t>
            </a:r>
            <a:endParaRPr lang="zh-TW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4622841"/>
            <a:ext cx="952503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9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智慧招募完整功能與延伸應用</a:t>
            </a:r>
            <a:endParaRPr lang="zh-TW" sz="1900" dirty="0"/>
          </a:p>
        </p:txBody>
      </p:sp>
      <p:sp>
        <p:nvSpPr>
          <p:cNvPr id="15" name="Shape 12"/>
          <p:cNvSpPr/>
          <p:nvPr/>
        </p:nvSpPr>
        <p:spPr>
          <a:xfrm>
            <a:off x="660380" y="5251491"/>
            <a:ext cx="10871210" cy="0"/>
          </a:xfrm>
          <a:prstGeom prst="line">
            <a:avLst/>
          </a:prstGeom>
          <a:noFill/>
          <a:ln w="9525">
            <a:solidFill>
              <a:srgbClr val="9AB4D2">
                <a:alpha val="14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30790" y="1936791"/>
            <a:ext cx="1930390" cy="247620"/>
          </a:xfrm>
          <a:prstGeom prst="roundRect">
            <a:avLst>
              <a:gd name="adj" fmla="val 50000"/>
            </a:avLst>
          </a:prstGeom>
          <a:solidFill>
            <a:srgbClr val="4D9DFF">
              <a:alpha val="12000"/>
            </a:srgbClr>
          </a:solidFill>
          <a:ln w="9525">
            <a:solidFill>
              <a:srgbClr val="4D9DFF">
                <a:alpha val="36000"/>
              </a:srgbClr>
            </a:solidFill>
          </a:ln>
        </p:spPr>
        <p:txBody>
          <a:bodyPr wrap="square" lIns="234950" tIns="0" rIns="0" bIns="0" rtlCol="0" anchor="ctr"/>
          <a:lstStyle/>
          <a:p>
            <a:pPr algn="l" indent="0" marL="0">
              <a:buNone/>
            </a:pPr>
            <a:r>
              <a:rPr lang="zh-TW" altLang="en-US" sz="750" spc="90" kern="0" dirty="0">
                <a:solidFill>
                  <a:srgbClr val="4D9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PEOPLE ON THE BUS</a:t>
            </a:r>
            <a:endParaRPr lang="zh-TW" sz="750" dirty="0"/>
          </a:p>
        </p:txBody>
      </p:sp>
      <p:sp>
        <p:nvSpPr>
          <p:cNvPr id="3" name="Shape 1"/>
          <p:cNvSpPr/>
          <p:nvPr/>
        </p:nvSpPr>
        <p:spPr>
          <a:xfrm>
            <a:off x="5251491" y="2035180"/>
            <a:ext cx="50841" cy="50841"/>
          </a:xfrm>
          <a:prstGeom prst="ellipse">
            <a:avLst/>
          </a:prstGeom>
          <a:solidFill>
            <a:srgbClr val="4D9DFF"/>
          </a:solidFill>
          <a:ln/>
          <a:effectLst>
            <a:outerShdw sx="100000" sy="100000" kx="0" ky="0" algn="bl" rotWithShape="0" blurRad="101600" dist="50800" dir="16200000">
              <a:srgbClr val="4D9DFF">
                <a:alpha val="7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2286000" y="2476470"/>
            <a:ext cx="7619970" cy="1206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530"/>
              </a:lnSpc>
              <a:buNone/>
            </a:pPr>
            <a:r>
              <a:rPr lang="zh-TW" altLang="en-US" sz="31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先找到對的人，</a:t>
            </a:r>
            <a:endParaRPr lang="zh-TW" sz="3100" dirty="0"/>
          </a:p>
          <a:p>
            <a:pPr algn="ctr" indent="0" marL="0">
              <a:lnSpc>
                <a:spcPts val="4530"/>
              </a:lnSpc>
              <a:buNone/>
            </a:pPr>
            <a:r>
              <a:rPr lang="zh-TW" altLang="en-US" sz="31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再讓 </a:t>
            </a:r>
            <a:r>
              <a:rPr lang="zh-TW" altLang="en-US" sz="3100" b="1" dirty="0">
                <a:solidFill>
                  <a:srgbClr val="4D9D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r>
              <a:rPr lang="zh-TW" altLang="en-US" sz="3100" b="1" dirty="0">
                <a:solidFill>
                  <a:srgbClr val="F4ED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把重複的工作接走。</a:t>
            </a:r>
            <a:endParaRPr lang="zh-TW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3994191"/>
            <a:ext cx="7619970" cy="260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延伸企業既有 HR 系統能力，從一個高價值招募情境開始驗證。</a:t>
            </a:r>
            <a:endParaRPr lang="zh-TW" sz="1250" dirty="0"/>
          </a:p>
        </p:txBody>
      </p:sp>
      <p:pic>
        <p:nvPicPr>
          <p:cNvPr id="6" name="Image 0" descr="/Users/candace/code/slides/pptx/assets/bc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4641860"/>
            <a:ext cx="1104870" cy="27944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0380" y="6578559"/>
            <a:ext cx="5080041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800" spc="130" kern="0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zh-TW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0261580" y="6578559"/>
            <a:ext cx="1270010" cy="1524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A647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CT Dark">
  <a:themeElements>
    <a:clrScheme name="BCT Dark">
      <a:dk1>
        <a:srgbClr val="0A0D12"/>
      </a:dk1>
      <a:lt1>
        <a:srgbClr val="F4EDE3"/>
      </a:lt1>
      <a:dk2>
        <a:srgbClr val="131A24"/>
      </a:dk2>
      <a:lt2>
        <a:srgbClr val="9AA3AE"/>
      </a:lt2>
      <a:accent1>
        <a:srgbClr val="4D9DFF"/>
      </a:accent1>
      <a:accent2>
        <a:srgbClr val="9AB4D2"/>
      </a:accent2>
      <a:accent3>
        <a:srgbClr val="5A6470"/>
      </a:accent3>
      <a:accent4>
        <a:srgbClr val="1F3A5F"/>
      </a:accent4>
      <a:accent5>
        <a:srgbClr val="0F141B"/>
      </a:accent5>
      <a:accent6>
        <a:srgbClr val="F4EDE3"/>
      </a:accent6>
      <a:hlink>
        <a:srgbClr val="4D9DFF"/>
      </a:hlink>
      <a:folHlink>
        <a:srgbClr val="9AA3AE"/>
      </a:folHlink>
    </a:clrScheme>
    <a:fontScheme name="Office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Bahwan CyberTek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智慧招募自動化</dc:title>
  <dc:subject>PptxGenJS Presentation</dc:subject>
  <dc:creator>PptxGenJS</dc:creator>
  <cp:lastModifiedBy>PptxGenJS</cp:lastModifiedBy>
  <cp:revision>1</cp:revision>
  <dcterms:created xsi:type="dcterms:W3CDTF">2026-09-17T01:42:27Z</dcterms:created>
  <dcterms:modified xsi:type="dcterms:W3CDTF">2026-09-17T01:42:27Z</dcterms:modified>
</cp:coreProperties>
</file>